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Allocation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B5E3F"/>
              </a:solidFill>
              <a:effectLst/>
            </c:spPr>
          </c:dPt>
          <c:dPt>
            <c:idx val="1"/>
            <c:bubble3D val="0"/>
            <c:spPr>
              <a:solidFill>
                <a:srgbClr val="4A9D6F"/>
              </a:solidFill>
              <a:effectLst/>
            </c:spPr>
          </c:dPt>
          <c:dPt>
            <c:idx val="2"/>
            <c:bubble3D val="0"/>
            <c:spPr>
              <a:solidFill>
                <a:srgbClr val="C9A24B"/>
              </a:solidFill>
              <a:effectLst/>
            </c:spPr>
          </c:dPt>
          <c:dPt>
            <c:idx val="3"/>
            <c:bubble3D val="0"/>
            <c:spPr>
              <a:solidFill>
                <a:srgbClr val="8FA88E"/>
              </a:solidFill>
              <a:effectLst/>
            </c:spPr>
          </c:dPt>
          <c:dPt>
            <c:idx val="4"/>
            <c:bubble3D val="0"/>
            <c:spPr>
              <a:solidFill>
                <a:srgbClr val="D9CBA3"/>
              </a:solidFill>
              <a:effectLst/>
            </c:spPr>
          </c:dPt>
          <c:dLbls>
            <c:dLbl>
              <c:idx val="0"/>
              <c:numFmt formatCode="0&quot;%&quot;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0&quot;%&quot;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0&quot;%&quot;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0&quot;%&quot;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0&quot;%&quot;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&quot;%&quot;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Community &amp; Rewards</c:v>
                </c:pt>
                <c:pt idx="1">
                  <c:v>Team &amp; Advisors</c:v>
                </c:pt>
                <c:pt idx="2">
                  <c:v>Treasury</c:v>
                </c:pt>
                <c:pt idx="3">
                  <c:v>Partnerships</c:v>
                </c:pt>
                <c:pt idx="4">
                  <c:v>Reserve/Burn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50</c:v>
                </c:pt>
                <c:pt idx="1">
                  <c:v>20</c:v>
                </c:pt>
                <c:pt idx="2">
                  <c:v>15</c:v>
                </c:pt>
                <c:pt idx="3">
                  <c:v>10</c:v>
                </c:pt>
                <c:pt idx="4">
                  <c:v>5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5E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5E3F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1097280"/>
            <a:ext cx="4572000" cy="4572000"/>
          </a:xfrm>
          <a:prstGeom prst="ellipse">
            <a:avLst/>
          </a:prstGeom>
          <a:solidFill>
            <a:srgbClr val="4A9D6F">
              <a:alpha val="2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371600" y="4572000"/>
            <a:ext cx="3657600" cy="3657600"/>
          </a:xfrm>
          <a:prstGeom prst="ellipse">
            <a:avLst/>
          </a:prstGeom>
          <a:solidFill>
            <a:srgbClr val="C9A24B">
              <a:alpha val="18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33172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spc="2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ECOSPHERE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868680" y="324612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7E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ECKO — Le token utilitaire des créateurs eco-art et du financement climat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68680" y="3977640"/>
            <a:ext cx="2011680" cy="0"/>
          </a:xfrm>
          <a:prstGeom prst="line">
            <a:avLst/>
          </a:prstGeom>
          <a:noFill/>
          <a:ln w="25400">
            <a:solidFill>
              <a:srgbClr val="C9A24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4160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FC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Polygon PoS  ·  Staking  ·  Gouvernance  ·  Impact ESG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8680" y="6080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FB0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Demande de financement — Polygon Grants &amp; Binance Labs Accelerator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22960" y="502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4A9D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PROBLÈME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868680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 financement climat manque d'infrastructure Web3 crédible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22960" y="2148840"/>
            <a:ext cx="3310128" cy="3200400"/>
          </a:xfrm>
          <a:prstGeom prst="roundRect">
            <a:avLst>
              <a:gd name="adj" fmla="val 2286"/>
            </a:avLst>
          </a:prstGeom>
          <a:solidFill>
            <a:srgbClr val="F4F7F5"/>
          </a:solidFill>
          <a:ln/>
          <a:effectLst>
            <a:outerShdw sx="100000" sy="100000" kx="0" ky="0" algn="bl" rotWithShape="0" blurRad="101600" dist="38100" dir="54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143000" y="2514600"/>
            <a:ext cx="502920" cy="502920"/>
          </a:xfrm>
          <a:prstGeom prst="ellipse">
            <a:avLst/>
          </a:prstGeom>
          <a:solidFill>
            <a:srgbClr val="1B5E3F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2514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143000" y="3200400"/>
            <a:ext cx="26700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Monétisation absente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143000" y="3703320"/>
            <a:ext cx="267004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B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créateurs de contenu environnemental n'ont pas de mécanisme direct et transparent pour être rémunérés.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453128" y="2148840"/>
            <a:ext cx="3310128" cy="3200400"/>
          </a:xfrm>
          <a:prstGeom prst="roundRect">
            <a:avLst>
              <a:gd name="adj" fmla="val 2286"/>
            </a:avLst>
          </a:prstGeom>
          <a:solidFill>
            <a:srgbClr val="F4F7F5"/>
          </a:solidFill>
          <a:ln/>
          <a:effectLst>
            <a:outerShdw sx="100000" sy="100000" kx="0" ky="0" algn="bl" rotWithShape="0" blurRad="101600" dist="38100" dir="54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73168" y="2514600"/>
            <a:ext cx="502920" cy="502920"/>
          </a:xfrm>
          <a:prstGeom prst="ellipse">
            <a:avLst/>
          </a:prstGeom>
          <a:solidFill>
            <a:srgbClr val="1B5E3F"/>
          </a:solidFill>
          <a:ln/>
        </p:spPr>
      </p:sp>
      <p:sp>
        <p:nvSpPr>
          <p:cNvPr id="12" name="Text 10"/>
          <p:cNvSpPr/>
          <p:nvPr/>
        </p:nvSpPr>
        <p:spPr>
          <a:xfrm>
            <a:off x="4773168" y="2514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773168" y="3200400"/>
            <a:ext cx="26700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Confiance limitée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773168" y="3703320"/>
            <a:ext cx="267004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B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campagnes de reforestation et de crédits carbone souffrent d'un déficit de traçabilité auprès des donateurs.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083296" y="2148840"/>
            <a:ext cx="3310128" cy="3200400"/>
          </a:xfrm>
          <a:prstGeom prst="roundRect">
            <a:avLst>
              <a:gd name="adj" fmla="val 2286"/>
            </a:avLst>
          </a:prstGeom>
          <a:solidFill>
            <a:srgbClr val="F4F7F5"/>
          </a:solidFill>
          <a:ln/>
          <a:effectLst>
            <a:outerShdw sx="100000" sy="100000" kx="0" ky="0" algn="bl" rotWithShape="0" blurRad="101600" dist="38100" dir="54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03336" y="2514600"/>
            <a:ext cx="502920" cy="502920"/>
          </a:xfrm>
          <a:prstGeom prst="ellipse">
            <a:avLst/>
          </a:prstGeom>
          <a:solidFill>
            <a:srgbClr val="1B5E3F"/>
          </a:solidFill>
          <a:ln/>
        </p:spPr>
      </p:sp>
      <p:sp>
        <p:nvSpPr>
          <p:cNvPr id="17" name="Text 15"/>
          <p:cNvSpPr/>
          <p:nvPr/>
        </p:nvSpPr>
        <p:spPr>
          <a:xfrm>
            <a:off x="8403336" y="2514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403336" y="3200400"/>
            <a:ext cx="26700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Écosystème inadapté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403336" y="3703320"/>
            <a:ext cx="267004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B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plateformes NFT/DeFi existantes ne sont pas conçues pour des cas d'usage ESG, limitant l'accès aux grants.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22960" y="502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4A9D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868680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Une infrastructure unifiée pour l'impact climatique on-chain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304288"/>
            <a:ext cx="292608" cy="292608"/>
          </a:xfrm>
          <a:prstGeom prst="ellipse">
            <a:avLst/>
          </a:prstGeom>
          <a:solidFill>
            <a:srgbClr val="4A9D6F"/>
          </a:solidFill>
          <a:ln/>
        </p:spPr>
      </p:sp>
      <p:sp>
        <p:nvSpPr>
          <p:cNvPr id="6" name="Text 4"/>
          <p:cNvSpPr/>
          <p:nvPr/>
        </p:nvSpPr>
        <p:spPr>
          <a:xfrm>
            <a:off x="1325880" y="22402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5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Créateurs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114800" y="2212848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Mintent des NFT eco-art ; une part des revenus finance directement des campagnes de reforestation vérifiées.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22960" y="3538728"/>
            <a:ext cx="292608" cy="292608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9" name="Text 7"/>
          <p:cNvSpPr/>
          <p:nvPr/>
        </p:nvSpPr>
        <p:spPr>
          <a:xfrm>
            <a:off x="1325880" y="34747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5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Détenteurs ECKO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114800" y="3447288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Stakent leurs tokens pour des récompenses et votent sur l'allocation du Treasury et les campagnes soutenues.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22960" y="4773168"/>
            <a:ext cx="292608" cy="292608"/>
          </a:xfrm>
          <a:prstGeom prst="ellipse">
            <a:avLst/>
          </a:prstGeom>
          <a:solidFill>
            <a:srgbClr val="4A9D6F"/>
          </a:solidFill>
          <a:ln/>
        </p:spPr>
      </p:sp>
      <p:sp>
        <p:nvSpPr>
          <p:cNvPr id="12" name="Text 10"/>
          <p:cNvSpPr/>
          <p:nvPr/>
        </p:nvSpPr>
        <p:spPr>
          <a:xfrm>
            <a:off x="1325880" y="47091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5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Écosystème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114800" y="4681728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Accès à des services exclusifs : cours en finance climatique, crédits carbone tokenisés, accès prioritaire aux campagnes.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22960" y="502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4A9D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OPPORTUNITÉ DE MARCHÉ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868680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À la convergence de trois marchés en forte croissance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286000"/>
            <a:ext cx="3310128" cy="2834640"/>
          </a:xfrm>
          <a:prstGeom prst="roundRect">
            <a:avLst>
              <a:gd name="adj" fmla="val 2581"/>
            </a:avLst>
          </a:prstGeom>
          <a:solidFill>
            <a:srgbClr val="F4F7F5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2651760"/>
            <a:ext cx="276148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5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~2 Md$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1097280" y="3520440"/>
            <a:ext cx="27614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Marché carbone volontaire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97280" y="4069080"/>
            <a:ext cx="276148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projeté en croissance rapide d'ici 2030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453128" y="2286000"/>
            <a:ext cx="3310128" cy="2834640"/>
          </a:xfrm>
          <a:prstGeom prst="roundRect">
            <a:avLst>
              <a:gd name="adj" fmla="val 2581"/>
            </a:avLst>
          </a:prstGeom>
          <a:solidFill>
            <a:srgbClr val="1B5E3F"/>
          </a:solidFill>
          <a:ln/>
        </p:spPr>
      </p:sp>
      <p:sp>
        <p:nvSpPr>
          <p:cNvPr id="10" name="Text 8"/>
          <p:cNvSpPr/>
          <p:nvPr/>
        </p:nvSpPr>
        <p:spPr>
          <a:xfrm>
            <a:off x="4727448" y="2651760"/>
            <a:ext cx="276148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9A2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Multi-Md$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4727448" y="3520440"/>
            <a:ext cx="27614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Marché NFT &amp; créateurs Web3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727448" y="4069080"/>
            <a:ext cx="276148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F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 continue malgré la volatilité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083296" y="2286000"/>
            <a:ext cx="3310128" cy="2834640"/>
          </a:xfrm>
          <a:prstGeom prst="roundRect">
            <a:avLst>
              <a:gd name="adj" fmla="val 2581"/>
            </a:avLst>
          </a:prstGeom>
          <a:solidFill>
            <a:srgbClr val="F4F7F5"/>
          </a:solidFill>
          <a:ln/>
        </p:spPr>
      </p:sp>
      <p:sp>
        <p:nvSpPr>
          <p:cNvPr id="14" name="Text 12"/>
          <p:cNvSpPr/>
          <p:nvPr/>
        </p:nvSpPr>
        <p:spPr>
          <a:xfrm>
            <a:off x="8357616" y="2651760"/>
            <a:ext cx="276148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5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Croissant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8357616" y="3520440"/>
            <a:ext cx="27614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Grants &amp; capital ESG crypto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357616" y="4069080"/>
            <a:ext cx="276148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Polygon, Binance Labs, fonds d'impact dédiés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22960" y="502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4A9D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PRODUIT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868680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Une stack technique éprouvée, sécurisée et vérifiable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22960" y="21488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5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Réseau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291840" y="21488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Polygon PoS — frais &lt; 0,001 $, compatibilité EVM complète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22960" y="292608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5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291840" y="2926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ERC-20 (OpenZeppelin) — staking natif, pause, contrôle d'accès par rôles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22960" y="370332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5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Gouvernance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291840" y="3703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Gnosis Safe multisig 2-sur-N + Snapshot pour les votes communautaires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822960" y="448056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5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291840" y="44805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tests unitaires, audit interne documenté, audit externe CertiK/Quantstamp prévu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822960" y="525780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5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291840" y="52578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Contrats vérifiés on-chain, CI GitHub Actions avec Slither automatisé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22960" y="502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4A9D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TOKENOMICS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868680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100 000 000 ECKO — supply fixe, alignée long terme</a:t>
            </a:r>
            <a:endParaRPr lang="en-US" sz="28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40080" y="2103120"/>
          <a:ext cx="512064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6126480" y="214884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 Community &amp; Rewards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126480" y="2441448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lock-up — staking uniquement, pour dynamiser l'adoption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6126480" y="292608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 Team &amp; Advisors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126480" y="3218688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Vesting 24 mois, cliff 6 mois — alignement long terme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126480" y="370332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 Treasury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126480" y="3995928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Flexibilité financière, gouvernance DAO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6126480" y="448056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 Partnerships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126480" y="4773168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Créateurs eco-art, ONG, expansion écosystème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6126480" y="525780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 Reserve/Burn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6126480" y="5550408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Contrôle de l'inflation via cap MAX_SUPPLY (105M)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22960" y="502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4A9D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868680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 semaines : validation → MVP → audit → financement → mainnet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822960" y="3749040"/>
            <a:ext cx="10698480" cy="0"/>
          </a:xfrm>
          <a:prstGeom prst="line">
            <a:avLst/>
          </a:prstGeom>
          <a:noFill/>
          <a:ln w="25400">
            <a:solidFill>
              <a:srgbClr val="D8E0D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22376" y="3648456"/>
            <a:ext cx="201168" cy="201168"/>
          </a:xfrm>
          <a:prstGeom prst="ellipse">
            <a:avLst/>
          </a:prstGeom>
          <a:solidFill>
            <a:srgbClr val="1B5E3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23317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5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S1-2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0" y="2587752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Validation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-45720" y="2935224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B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Étude concurrentielle, sondage communauté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505456" y="3648456"/>
            <a:ext cx="201168" cy="201168"/>
          </a:xfrm>
          <a:prstGeom prst="ellipse">
            <a:avLst/>
          </a:prstGeom>
          <a:solidFill>
            <a:srgbClr val="1B5E3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57400" y="40690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5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S3-4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783080" y="4325112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Documentation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737360" y="4672584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B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White-paper, tokenomics finalisés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288536" y="3648456"/>
            <a:ext cx="201168" cy="201168"/>
          </a:xfrm>
          <a:prstGeom prst="ellipse">
            <a:avLst/>
          </a:prstGeom>
          <a:solidFill>
            <a:srgbClr val="1B5E3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0" y="23317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5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S5-6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566160" y="2587752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MVP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520440" y="2935224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B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contracts + déploiement testnet ✅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071616" y="3648456"/>
            <a:ext cx="201168" cy="201168"/>
          </a:xfrm>
          <a:prstGeom prst="ellipse">
            <a:avLst/>
          </a:prstGeom>
          <a:solidFill>
            <a:srgbClr val="C7D2C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23560" y="40690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5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S7-8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349240" y="4325112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Audit externe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303520" y="4672584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B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CertiK / Quantstamp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7854696" y="3648456"/>
            <a:ext cx="201168" cy="201168"/>
          </a:xfrm>
          <a:prstGeom prst="ellipse">
            <a:avLst/>
          </a:prstGeom>
          <a:solidFill>
            <a:srgbClr val="C7D2C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06640" y="23317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5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S9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132320" y="2587752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Grants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086600" y="2935224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B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Polygon Grants, Binance Labs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9637776" y="3648456"/>
            <a:ext cx="201168" cy="201168"/>
          </a:xfrm>
          <a:prstGeom prst="ellipse">
            <a:avLst/>
          </a:prstGeom>
          <a:solidFill>
            <a:srgbClr val="C7D2C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89720" y="40690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5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S10-11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915400" y="4325112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Seed round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869680" y="4672584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B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Angels / VC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11420856" y="3648456"/>
            <a:ext cx="201168" cy="201168"/>
          </a:xfrm>
          <a:prstGeom prst="ellipse">
            <a:avLst/>
          </a:prstGeom>
          <a:solidFill>
            <a:srgbClr val="C7D2C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972800" y="23317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5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S12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0698480" y="2587752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Mainnet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0652760" y="2935224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B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Lancement public + DAO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5E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4A9D6F">
              <a:alpha val="2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502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OÙ NOUS EN SOMMES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86868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 MVP technique est déployé et vérifié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822960" y="2286000"/>
            <a:ext cx="2514600" cy="1828800"/>
          </a:xfrm>
          <a:prstGeom prst="roundRect">
            <a:avLst>
              <a:gd name="adj" fmla="val 4000"/>
            </a:avLst>
          </a:prstGeom>
          <a:solidFill>
            <a:srgbClr val="1F6B49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2514600"/>
            <a:ext cx="2148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9A2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18/18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005840" y="3246120"/>
            <a:ext cx="2148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7E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unitaires passent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566160" y="2286000"/>
            <a:ext cx="2514600" cy="1828800"/>
          </a:xfrm>
          <a:prstGeom prst="roundRect">
            <a:avLst>
              <a:gd name="adj" fmla="val 4000"/>
            </a:avLst>
          </a:prstGeom>
          <a:solidFill>
            <a:srgbClr val="1F6B49"/>
          </a:solidFill>
          <a:ln/>
        </p:spPr>
      </p:sp>
      <p:sp>
        <p:nvSpPr>
          <p:cNvPr id="10" name="Text 8"/>
          <p:cNvSpPr/>
          <p:nvPr/>
        </p:nvSpPr>
        <p:spPr>
          <a:xfrm>
            <a:off x="3749040" y="2514600"/>
            <a:ext cx="2148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9A2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100M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749040" y="3246120"/>
            <a:ext cx="2148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7E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ECKO en circulation testnet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309360" y="2286000"/>
            <a:ext cx="2514600" cy="1828800"/>
          </a:xfrm>
          <a:prstGeom prst="roundRect">
            <a:avLst>
              <a:gd name="adj" fmla="val 4000"/>
            </a:avLst>
          </a:prstGeom>
          <a:solidFill>
            <a:srgbClr val="1F6B49"/>
          </a:solidFill>
          <a:ln/>
        </p:spPr>
      </p:sp>
      <p:sp>
        <p:nvSpPr>
          <p:cNvPr id="13" name="Text 11"/>
          <p:cNvSpPr/>
          <p:nvPr/>
        </p:nvSpPr>
        <p:spPr>
          <a:xfrm>
            <a:off x="6492240" y="2514600"/>
            <a:ext cx="2148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9A2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2-sur-2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492240" y="3246120"/>
            <a:ext cx="2148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7E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gouvernance Safe multisig active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052560" y="2286000"/>
            <a:ext cx="2514600" cy="1828800"/>
          </a:xfrm>
          <a:prstGeom prst="roundRect">
            <a:avLst>
              <a:gd name="adj" fmla="val 4000"/>
            </a:avLst>
          </a:prstGeom>
          <a:solidFill>
            <a:srgbClr val="1F6B49"/>
          </a:solidFill>
          <a:ln/>
        </p:spPr>
      </p:sp>
      <p:sp>
        <p:nvSpPr>
          <p:cNvPr id="16" name="Text 14"/>
          <p:cNvSpPr/>
          <p:nvPr/>
        </p:nvSpPr>
        <p:spPr>
          <a:xfrm>
            <a:off x="9235440" y="2514600"/>
            <a:ext cx="2148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9A2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9235440" y="3246120"/>
            <a:ext cx="2148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7E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vulnérabilité critique identifiée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22960" y="44805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FC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Déployé sur Polygon Amoy · Contrats vérifiés on-chain · Worker Cloudflare (RPC proxy) en production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22960" y="502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4A9D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ÉQUIPE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868680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Une équipe déjà opérationnelle en production Web3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194560"/>
            <a:ext cx="10104120" cy="3291840"/>
          </a:xfrm>
          <a:prstGeom prst="roundRect">
            <a:avLst>
              <a:gd name="adj" fmla="val 2222"/>
            </a:avLst>
          </a:prstGeom>
          <a:solidFill>
            <a:srgbClr val="F4F7F5"/>
          </a:solidFill>
          <a:ln/>
        </p:spPr>
      </p:sp>
      <p:sp>
        <p:nvSpPr>
          <p:cNvPr id="6" name="Text 4"/>
          <p:cNvSpPr/>
          <p:nvPr/>
        </p:nvSpPr>
        <p:spPr>
          <a:xfrm>
            <a:off x="1188720" y="2514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5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Historique produit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188720" y="2926080"/>
            <a:ext cx="8686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L'équipe opère déjà HockeyNFTLeague, un projet NFT en production partageant l'infrastructure (repo GitHub, Cloudflare, gouvernance Gnosis Safe multisig) — une base technique et opérationnelle déjà éprouvée avant même le lancement d'EcoSphere.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1188720" y="4251960"/>
            <a:ext cx="233172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0E6E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25880" y="4251960"/>
            <a:ext cx="2057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5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Fondateur / Product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657600" y="4251960"/>
            <a:ext cx="233172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0E6E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94760" y="4251960"/>
            <a:ext cx="2057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5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CTO / Smart Contracts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126480" y="4251960"/>
            <a:ext cx="233172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0E6E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63640" y="4251960"/>
            <a:ext cx="2057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5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Rédaction / Tokenomics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595360" y="4251960"/>
            <a:ext cx="233172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0E6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32520" y="4251960"/>
            <a:ext cx="2057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5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&amp; Compliance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22960" y="502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4A9D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DEMANDE DE FINANCEMENT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868680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Une stratégie en cascade, du moins au plus dilutif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286000"/>
            <a:ext cx="10104120" cy="777240"/>
          </a:xfrm>
          <a:prstGeom prst="rect">
            <a:avLst/>
          </a:prstGeom>
          <a:solidFill>
            <a:srgbClr val="F4F7F5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228600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Polygon Ecosystem Grants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937760" y="228600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5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30k – 150k $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498080" y="2286000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 dilution — dev, audit, UI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22960" y="3063240"/>
            <a:ext cx="10104120" cy="7772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306324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Binance Labs Accelerator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37760" y="306324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5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200k – 500k $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498080" y="3063240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Seed, mentors, écosystème BSC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22960" y="3840480"/>
            <a:ext cx="10104120" cy="777240"/>
          </a:xfrm>
          <a:prstGeom prst="rect">
            <a:avLst/>
          </a:prstGeom>
          <a:solidFill>
            <a:srgbClr val="F4F7F5"/>
          </a:solidFill>
          <a:ln/>
        </p:spPr>
      </p:sp>
      <p:sp>
        <p:nvSpPr>
          <p:cNvPr id="14" name="Text 12"/>
          <p:cNvSpPr/>
          <p:nvPr/>
        </p:nvSpPr>
        <p:spPr>
          <a:xfrm>
            <a:off x="1097280" y="384048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Angels crypto-impact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37760" y="384048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5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50k – 200k $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498080" y="3840480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Alignement ESG, réseaux dédiés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22960" y="4617720"/>
            <a:ext cx="10104120" cy="7772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1097280" y="461772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IDO Polkastarter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937760" y="461772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5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0,5M – 2M $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498080" y="4617720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Liquidité initiale, post-MVP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22960" y="62636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— [nom] · [email] · ecosphere.io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2026-08-15T03:47:43Z</dcterms:created>
  <dcterms:modified xsi:type="dcterms:W3CDTF">2026-08-15T03:47:43Z</dcterms:modified>
</cp:coreProperties>
</file>